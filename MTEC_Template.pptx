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0"/>
            <a:ext cx="3840480" cy="6858000"/>
          </a:xfrm>
          <a:prstGeom prst="rect">
            <a:avLst/>
          </a:prstGeom>
          <a:solidFill>
            <a:srgbClr val="1B6CA8">
              <a:alpha val="22000"/>
            </a:srgbClr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05695" y="0"/>
            <a:ext cx="2286000" cy="6858000"/>
          </a:xfrm>
          <a:prstGeom prst="rect">
            <a:avLst/>
          </a:prstGeom>
          <a:solidFill>
            <a:srgbClr val="1B6CA8">
              <a:alpha val="35000"/>
            </a:srgbClr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68735" y="0"/>
            <a:ext cx="822960" cy="6858000"/>
          </a:xfrm>
          <a:prstGeom prst="rect">
            <a:avLst/>
          </a:prstGeom>
          <a:solidFill>
            <a:srgbClr val="B2BEC9">
              <a:alpha val="30000"/>
            </a:srgbClr>
          </a:solidFill>
          <a:ln w="12700">
            <a:solidFill>
              <a:srgbClr val="B2BEC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4572000"/>
            <a:ext cx="548640" cy="54864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PRESENTACIÓN CORPORATIVA ·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spc="-2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MTEC</a:t>
            </a:r>
            <a:endParaRPr lang="en-US" sz="140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spc="100" kern="0" dirty="0">
                <a:solidFill>
                  <a:srgbClr val="B2BEC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Servicios técnicos especializados</a:t>
            </a:r>
            <a:endParaRPr lang="en-US" sz="3600" dirty="0"/>
          </a:p>
          <a:p>
            <a:pPr indent="0" marL="0">
              <a:buNone/>
            </a:pPr>
            <a:r>
              <a:rPr lang="en-US" sz="3600" spc="100" kern="0" dirty="0">
                <a:solidFill>
                  <a:srgbClr val="B2BEC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la gran industria.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40080" y="4754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Donde la falla no es una opción.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6080760"/>
            <a:ext cx="10911535" cy="0"/>
          </a:xfrm>
          <a:prstGeom prst="line">
            <a:avLst/>
          </a:prstGeom>
          <a:noFill/>
          <a:ln w="9525">
            <a:solidFill>
              <a:srgbClr val="5360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217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Refinería · Minería · Energía · Oil &amp; Gas · Sanitarias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905695" y="6217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Versión 1.0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64592" cy="16459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291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MTEC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77295" y="3200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3D485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231575" y="566928"/>
            <a:ext cx="502920" cy="0"/>
          </a:xfrm>
          <a:prstGeom prst="line">
            <a:avLst/>
          </a:prstGeom>
          <a:noFill/>
          <a:ln w="19050">
            <a:solidFill>
              <a:srgbClr val="1B6C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365760" cy="36576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B6C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ÍNDICE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Contenido de la presentación.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3800" dirty="0"/>
          </a:p>
        </p:txBody>
      </p:sp>
      <p:sp>
        <p:nvSpPr>
          <p:cNvPr id="10" name="Shape 8"/>
          <p:cNvSpPr/>
          <p:nvPr/>
        </p:nvSpPr>
        <p:spPr>
          <a:xfrm>
            <a:off x="1325880" y="2788920"/>
            <a:ext cx="0" cy="640080"/>
          </a:xfrm>
          <a:prstGeom prst="line">
            <a:avLst/>
          </a:prstGeom>
          <a:noFill/>
          <a:ln w="12700">
            <a:solidFill>
              <a:srgbClr val="D6DD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2743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Quiénes somos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08760" y="312724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Identidad, origen y propósito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0" y="274320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3800" dirty="0"/>
          </a:p>
        </p:txBody>
      </p:sp>
      <p:sp>
        <p:nvSpPr>
          <p:cNvPr id="14" name="Shape 12"/>
          <p:cNvSpPr/>
          <p:nvPr/>
        </p:nvSpPr>
        <p:spPr>
          <a:xfrm>
            <a:off x="6995160" y="2788920"/>
            <a:ext cx="0" cy="640080"/>
          </a:xfrm>
          <a:prstGeom prst="line">
            <a:avLst/>
          </a:prstGeom>
          <a:noFill/>
          <a:ln w="12700">
            <a:solidFill>
              <a:srgbClr val="D6DD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78040" y="2743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Nuestros valores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78040" y="312724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nos define en terreno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93192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3800" dirty="0"/>
          </a:p>
        </p:txBody>
      </p:sp>
      <p:sp>
        <p:nvSpPr>
          <p:cNvPr id="18" name="Shape 16"/>
          <p:cNvSpPr/>
          <p:nvPr/>
        </p:nvSpPr>
        <p:spPr>
          <a:xfrm>
            <a:off x="1325880" y="3977640"/>
            <a:ext cx="0" cy="640080"/>
          </a:xfrm>
          <a:prstGeom prst="line">
            <a:avLst/>
          </a:prstGeom>
          <a:noFill/>
          <a:ln w="12700">
            <a:solidFill>
              <a:srgbClr val="D6DD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08760" y="3931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Servicios especializados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508760" y="43159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Capacidades técnicas y de respuesta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17920" y="393192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3800" dirty="0"/>
          </a:p>
        </p:txBody>
      </p:sp>
      <p:sp>
        <p:nvSpPr>
          <p:cNvPr id="22" name="Shape 20"/>
          <p:cNvSpPr/>
          <p:nvPr/>
        </p:nvSpPr>
        <p:spPr>
          <a:xfrm>
            <a:off x="6995160" y="3977640"/>
            <a:ext cx="0" cy="640080"/>
          </a:xfrm>
          <a:prstGeom prst="line">
            <a:avLst/>
          </a:prstGeom>
          <a:noFill/>
          <a:ln w="12700">
            <a:solidFill>
              <a:srgbClr val="D6DD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78040" y="3931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Sectores que atendemos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178040" y="43159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Industrias críticas que servimos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512064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05</a:t>
            </a:r>
            <a:endParaRPr lang="en-US" sz="3800" dirty="0"/>
          </a:p>
        </p:txBody>
      </p:sp>
      <p:sp>
        <p:nvSpPr>
          <p:cNvPr id="26" name="Shape 24"/>
          <p:cNvSpPr/>
          <p:nvPr/>
        </p:nvSpPr>
        <p:spPr>
          <a:xfrm>
            <a:off x="1325880" y="5166360"/>
            <a:ext cx="0" cy="640080"/>
          </a:xfrm>
          <a:prstGeom prst="line">
            <a:avLst/>
          </a:prstGeom>
          <a:noFill/>
          <a:ln w="12700">
            <a:solidFill>
              <a:srgbClr val="D6DD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08760" y="5120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Casos y resultados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508760" y="550468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 que demuestran ejecución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17920" y="512064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06</a:t>
            </a:r>
            <a:endParaRPr lang="en-US" sz="3800" dirty="0"/>
          </a:p>
        </p:txBody>
      </p:sp>
      <p:sp>
        <p:nvSpPr>
          <p:cNvPr id="30" name="Shape 28"/>
          <p:cNvSpPr/>
          <p:nvPr/>
        </p:nvSpPr>
        <p:spPr>
          <a:xfrm>
            <a:off x="6995160" y="5166360"/>
            <a:ext cx="0" cy="640080"/>
          </a:xfrm>
          <a:prstGeom prst="line">
            <a:avLst/>
          </a:prstGeom>
          <a:noFill/>
          <a:ln w="12700">
            <a:solidFill>
              <a:srgbClr val="D6DD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78040" y="5120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Por qué MTEC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178040" y="550468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Diferenciadores y respaldo ERRES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D6DD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6437376"/>
            <a:ext cx="365760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 · Donde la falla no es una opción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362895" y="651052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mtec.cl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64592" cy="16459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291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MTEC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77295" y="3200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3D485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231575" y="566928"/>
            <a:ext cx="502920" cy="0"/>
          </a:xfrm>
          <a:prstGeom prst="line">
            <a:avLst/>
          </a:prstGeom>
          <a:noFill/>
          <a:ln w="19050">
            <a:solidFill>
              <a:srgbClr val="1B6C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365760" cy="36576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0789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B6C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QUIÉNES SOMOS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7223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Especialización técnica</a:t>
            </a:r>
            <a:endParaRPr lang="en-US" sz="3600" dirty="0"/>
          </a:p>
          <a:p>
            <a:pPr indent="0" marL="0">
              <a:buNone/>
            </a:pPr>
            <a:r>
              <a:rPr lang="en-US" sz="3600" b="1" spc="-1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operaciones críticas.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7863840" y="1417320"/>
            <a:ext cx="3749040" cy="4754880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0" y="1417320"/>
            <a:ext cx="3749040" cy="7315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92440" y="16916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FUNDADA EN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92440" y="20116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spc="-2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2014</a:t>
            </a:r>
            <a:endParaRPr lang="en-US" sz="8000" dirty="0"/>
          </a:p>
        </p:txBody>
      </p:sp>
      <p:sp>
        <p:nvSpPr>
          <p:cNvPr id="13" name="Shape 11"/>
          <p:cNvSpPr/>
          <p:nvPr/>
        </p:nvSpPr>
        <p:spPr>
          <a:xfrm>
            <a:off x="8092440" y="3200400"/>
            <a:ext cx="3200400" cy="0"/>
          </a:xfrm>
          <a:prstGeom prst="line">
            <a:avLst/>
          </a:prstGeom>
          <a:noFill/>
          <a:ln w="6350">
            <a:solidFill>
              <a:srgbClr val="5360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2440" y="333756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Spin-off de ERRES SpA. Reactivada en 2026 con foco en servicios especializados de alto valor para la gran industria chilena.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291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B6C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MISIÓN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8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Proveer a la gran industria soluciones especializadas en servicios, productos y tecnología, garantizando la continuidad operacional y la creación de valor.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937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B6C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VISIÓN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521208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8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Consolidarnos como empresa líder en Chile en soluciones tecnológicas, productos y servicios especializados para los sectores petroquímico, energético, minero e industrial.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D6DD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6437376"/>
            <a:ext cx="365760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 · Donde la falla no es una opción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362895" y="651052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mtec.cl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64592" cy="16459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291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MTEC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77295" y="3200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3D485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231575" y="566928"/>
            <a:ext cx="502920" cy="0"/>
          </a:xfrm>
          <a:prstGeom prst="line">
            <a:avLst/>
          </a:prstGeom>
          <a:noFill/>
          <a:ln w="19050">
            <a:solidFill>
              <a:srgbClr val="1B6C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365760" cy="36576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B6C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VALORES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nos define</a:t>
            </a:r>
            <a:endParaRPr lang="en-US" sz="4400" dirty="0"/>
          </a:p>
          <a:p>
            <a:pPr indent="0" marL="0">
              <a:buNone/>
            </a:pPr>
            <a:r>
              <a:rPr lang="en-US" sz="4400" b="1" spc="-1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 cada operación.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213969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DE5"/>
            </a:solidFill>
            <a:prstDash val="solid"/>
          </a:ln>
          <a:effectLst>
            <a:outerShdw sx="100000" sy="100000" kx="0" ky="0" algn="bl" rotWithShape="0" blurRad="152400" dist="38100" dir="5400000">
              <a:srgbClr val="0F161E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3200400"/>
            <a:ext cx="2139696" cy="7315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474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49808" y="4069080"/>
            <a:ext cx="177393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Especialización técnica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49808" y="489204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Conocimiento profundo respaldado por formación, certificación y experiencia real.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825496" y="3200400"/>
            <a:ext cx="213969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DE5"/>
            </a:solidFill>
            <a:prstDash val="solid"/>
          </a:ln>
          <a:effectLst>
            <a:outerShdw sx="100000" sy="100000" kx="0" ky="0" algn="bl" rotWithShape="0" blurRad="152400" dist="38100" dir="5400000">
              <a:srgbClr val="0F161E">
                <a:alpha val="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825496" y="3200400"/>
            <a:ext cx="2139696" cy="7315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54096" y="3474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026664" y="4069080"/>
            <a:ext cx="177393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Confiabilidad operacional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026664" y="489204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Estándares de excelencia en cada intervención. Procesos certificados.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02352" y="3200400"/>
            <a:ext cx="213969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DE5"/>
            </a:solidFill>
            <a:prstDash val="solid"/>
          </a:ln>
          <a:effectLst>
            <a:outerShdw sx="100000" sy="100000" kx="0" ky="0" algn="bl" rotWithShape="0" blurRad="152400" dist="38100" dir="5400000">
              <a:srgbClr val="0F161E">
                <a:alpha val="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102352" y="3200400"/>
            <a:ext cx="2139696" cy="7315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30952" y="3474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303520" y="4069080"/>
            <a:ext cx="177393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Rapidez de respuesta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303520" y="489204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Agilidad demostrable en terreno. De 2 horas a 20 minutos.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79208" y="3200400"/>
            <a:ext cx="213969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DE5"/>
            </a:solidFill>
            <a:prstDash val="solid"/>
          </a:ln>
          <a:effectLst>
            <a:outerShdw sx="100000" sy="100000" kx="0" ky="0" algn="bl" rotWithShape="0" blurRad="152400" dist="38100" dir="5400000">
              <a:srgbClr val="0F161E">
                <a:alpha val="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79208" y="3200400"/>
            <a:ext cx="2139696" cy="7315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07808" y="3474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580376" y="4069080"/>
            <a:ext cx="177393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Innovación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580376" y="489204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Tecnología de proceso aplicada al contexto industrial real.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656064" y="3200400"/>
            <a:ext cx="213969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DE5"/>
            </a:solidFill>
            <a:prstDash val="solid"/>
          </a:ln>
          <a:effectLst>
            <a:outerShdw sx="100000" sy="100000" kx="0" ky="0" algn="bl" rotWithShape="0" blurRad="152400" dist="38100" dir="5400000">
              <a:srgbClr val="0F161E">
                <a:alpha val="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656064" y="3200400"/>
            <a:ext cx="2139696" cy="7315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84664" y="3474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05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9857232" y="4069080"/>
            <a:ext cx="177393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-3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Integridad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9857232" y="4892040"/>
            <a:ext cx="1773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Comunicación directa, sin hipérbole. La confianza se construye siendo específico.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D6DD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6437376"/>
            <a:ext cx="365760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 · Donde la falla no es una opción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362895" y="651052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mtec.cl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64592" cy="16459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291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MTEC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77295" y="3200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3D485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231575" y="566928"/>
            <a:ext cx="502920" cy="0"/>
          </a:xfrm>
          <a:prstGeom prst="line">
            <a:avLst/>
          </a:prstGeom>
          <a:noFill/>
          <a:ln w="19050">
            <a:solidFill>
              <a:srgbClr val="1B6C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365760" cy="36576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B6C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SERVICIOS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Capacidades técnicas</a:t>
            </a:r>
            <a:endParaRPr lang="en-US" sz="4400" dirty="0"/>
          </a:p>
          <a:p>
            <a:pPr indent="0" marL="0">
              <a:buNone/>
            </a:pPr>
            <a:r>
              <a:rPr lang="en-US" sz="4400" b="1" spc="-1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alto valor.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3657600" cy="1325880"/>
          </a:xfrm>
          <a:prstGeom prst="rect">
            <a:avLst/>
          </a:prstGeom>
          <a:solidFill>
            <a:srgbClr val="F4F6F9"/>
          </a:solidFill>
          <a:ln w="6350">
            <a:solidFill>
              <a:srgbClr val="D6DD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200400"/>
            <a:ext cx="64008" cy="13258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337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Encapsulado de fugas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" y="37947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detener el flujo en línea. Tiempo de instalación: bajo 4 horas.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25112" y="3200400"/>
            <a:ext cx="3657600" cy="1325880"/>
          </a:xfrm>
          <a:prstGeom prst="rect">
            <a:avLst/>
          </a:prstGeom>
          <a:solidFill>
            <a:srgbClr val="F4F6F9"/>
          </a:solidFill>
          <a:ln w="6350">
            <a:solidFill>
              <a:srgbClr val="D6DD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25112" y="3200400"/>
            <a:ext cx="64008" cy="13258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3337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Tapones Pop-a-Plug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599432" y="37947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2 horas a 20 minutos. Sin soldadura. Con certificación.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01584" y="3200400"/>
            <a:ext cx="3657600" cy="1325880"/>
          </a:xfrm>
          <a:prstGeom prst="rect">
            <a:avLst/>
          </a:prstGeom>
          <a:solidFill>
            <a:srgbClr val="F4F6F9"/>
          </a:solidFill>
          <a:ln w="6350">
            <a:solidFill>
              <a:srgbClr val="D6DD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01584" y="3200400"/>
            <a:ext cx="64008" cy="13258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5904" y="3337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Mantenimiento mecánico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375904" y="37947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Intervenciones programadas y de emergencia en planta.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690872"/>
            <a:ext cx="3657600" cy="1325880"/>
          </a:xfrm>
          <a:prstGeom prst="rect">
            <a:avLst/>
          </a:prstGeom>
          <a:solidFill>
            <a:srgbClr val="F4F6F9"/>
          </a:solidFill>
          <a:ln w="6350">
            <a:solidFill>
              <a:srgbClr val="D6DD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690872"/>
            <a:ext cx="64008" cy="13258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82803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Servicios de proceso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22960" y="5285232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Tecnología aplicada para continuidad operacional.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25112" y="4690872"/>
            <a:ext cx="3657600" cy="1325880"/>
          </a:xfrm>
          <a:prstGeom prst="rect">
            <a:avLst/>
          </a:prstGeom>
          <a:solidFill>
            <a:srgbClr val="F4F6F9"/>
          </a:solidFill>
          <a:ln w="6350">
            <a:solidFill>
              <a:srgbClr val="D6DD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25112" y="4690872"/>
            <a:ext cx="64008" cy="13258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9432" y="482803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Inspección y diagnóstico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99432" y="5285232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Evaluación técnica con metodologías certificadas.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01584" y="4690872"/>
            <a:ext cx="3657600" cy="1325880"/>
          </a:xfrm>
          <a:prstGeom prst="rect">
            <a:avLst/>
          </a:prstGeom>
          <a:solidFill>
            <a:srgbClr val="F4F6F9"/>
          </a:solidFill>
          <a:ln w="6350">
            <a:solidFill>
              <a:srgbClr val="D6DD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01584" y="4690872"/>
            <a:ext cx="64008" cy="13258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75904" y="482803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Provisión de equipos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375904" y="5285232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Suministro especializado para industria crítica.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D6DD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6437376"/>
            <a:ext cx="365760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 · Donde la falla no es una opción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362895" y="651052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mtec.cl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77295" y="3200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B2BEC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31575" y="566928"/>
            <a:ext cx="502920" cy="0"/>
          </a:xfrm>
          <a:prstGeom prst="line">
            <a:avLst/>
          </a:prstGeom>
          <a:noFill/>
          <a:ln w="19050">
            <a:solidFill>
              <a:srgbClr val="1B6C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365760"/>
            <a:ext cx="164592" cy="164592"/>
          </a:xfrm>
          <a:prstGeom prst="rect">
            <a:avLst/>
          </a:prstGeom>
          <a:solidFill>
            <a:srgbClr val="B2BEC9"/>
          </a:solidFill>
          <a:ln w="12700">
            <a:solidFill>
              <a:srgbClr val="B2BE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291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MTEC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365760" cy="36576"/>
          </a:xfrm>
          <a:prstGeom prst="rect">
            <a:avLst/>
          </a:prstGeom>
          <a:solidFill>
            <a:srgbClr val="B2BEC9"/>
          </a:solidFill>
          <a:ln w="12700">
            <a:solidFill>
              <a:srgbClr val="B2BE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SECTORES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4630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Industrias críticas</a:t>
            </a:r>
            <a:endParaRPr lang="en-US" sz="4400" dirty="0"/>
          </a:p>
          <a:p>
            <a:pPr indent="0" marL="0"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que atendemos.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3657600" cy="1280160"/>
          </a:xfrm>
          <a:prstGeom prst="rect">
            <a:avLst/>
          </a:prstGeom>
          <a:solidFill>
            <a:srgbClr val="152538"/>
          </a:solidFill>
          <a:ln w="6350">
            <a:solidFill>
              <a:srgbClr val="5360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566160"/>
            <a:ext cx="228600" cy="2286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2688" y="3675888"/>
            <a:ext cx="228600" cy="228600"/>
          </a:xfrm>
          <a:prstGeom prst="rect">
            <a:avLst/>
          </a:prstGeom>
          <a:solidFill>
            <a:srgbClr val="B2BEC9">
              <a:alpha val="70000"/>
            </a:srgbClr>
          </a:solidFill>
          <a:ln w="12700">
            <a:solidFill>
              <a:srgbClr val="B2BE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931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Petroquímico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42519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ENAP y refinerías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25112" y="3291840"/>
            <a:ext cx="3657600" cy="1280160"/>
          </a:xfrm>
          <a:prstGeom prst="rect">
            <a:avLst/>
          </a:prstGeom>
          <a:solidFill>
            <a:srgbClr val="152538"/>
          </a:solidFill>
          <a:ln w="6350">
            <a:solidFill>
              <a:srgbClr val="5360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99432" y="3566160"/>
            <a:ext cx="228600" cy="2286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675888"/>
            <a:ext cx="228600" cy="228600"/>
          </a:xfrm>
          <a:prstGeom prst="rect">
            <a:avLst/>
          </a:prstGeom>
          <a:solidFill>
            <a:srgbClr val="B2BEC9">
              <a:alpha val="70000"/>
            </a:srgbClr>
          </a:solidFill>
          <a:ln w="12700">
            <a:solidFill>
              <a:srgbClr val="B2BE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9432" y="3931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Energético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599432" y="42519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Generación y transmisión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01584" y="3291840"/>
            <a:ext cx="3657600" cy="1280160"/>
          </a:xfrm>
          <a:prstGeom prst="rect">
            <a:avLst/>
          </a:prstGeom>
          <a:solidFill>
            <a:srgbClr val="152538"/>
          </a:solidFill>
          <a:ln w="6350">
            <a:solidFill>
              <a:srgbClr val="5360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5904" y="3566160"/>
            <a:ext cx="228600" cy="2286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85632" y="3675888"/>
            <a:ext cx="228600" cy="228600"/>
          </a:xfrm>
          <a:prstGeom prst="rect">
            <a:avLst/>
          </a:prstGeom>
          <a:solidFill>
            <a:srgbClr val="B2BEC9">
              <a:alpha val="70000"/>
            </a:srgbClr>
          </a:solidFill>
          <a:ln w="12700">
            <a:solidFill>
              <a:srgbClr val="B2BE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75904" y="3931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Minero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375904" y="42519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Operaciones de gran escala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736592"/>
            <a:ext cx="3657600" cy="1280160"/>
          </a:xfrm>
          <a:prstGeom prst="rect">
            <a:avLst/>
          </a:prstGeom>
          <a:solidFill>
            <a:srgbClr val="152538"/>
          </a:solidFill>
          <a:ln w="6350">
            <a:solidFill>
              <a:srgbClr val="53607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5010912"/>
            <a:ext cx="228600" cy="2286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2688" y="5120640"/>
            <a:ext cx="228600" cy="228600"/>
          </a:xfrm>
          <a:prstGeom prst="rect">
            <a:avLst/>
          </a:prstGeom>
          <a:solidFill>
            <a:srgbClr val="B2BEC9">
              <a:alpha val="70000"/>
            </a:srgbClr>
          </a:solidFill>
          <a:ln w="12700">
            <a:solidFill>
              <a:srgbClr val="B2BE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537667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Celulosa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22960" y="56967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Plantas de proceso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25112" y="4736592"/>
            <a:ext cx="3657600" cy="1280160"/>
          </a:xfrm>
          <a:prstGeom prst="rect">
            <a:avLst/>
          </a:prstGeom>
          <a:solidFill>
            <a:srgbClr val="152538"/>
          </a:solidFill>
          <a:ln w="6350">
            <a:solidFill>
              <a:srgbClr val="5360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99432" y="5010912"/>
            <a:ext cx="228600" cy="2286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09160" y="5120640"/>
            <a:ext cx="228600" cy="228600"/>
          </a:xfrm>
          <a:prstGeom prst="rect">
            <a:avLst/>
          </a:prstGeom>
          <a:solidFill>
            <a:srgbClr val="B2BEC9">
              <a:alpha val="70000"/>
            </a:srgbClr>
          </a:solidFill>
          <a:ln w="12700">
            <a:solidFill>
              <a:srgbClr val="B2BEC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9432" y="537667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Sanitarias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599432" y="56967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Servicios de agua y saneamiento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101584" y="4736592"/>
            <a:ext cx="3657600" cy="1280160"/>
          </a:xfrm>
          <a:prstGeom prst="rect">
            <a:avLst/>
          </a:prstGeom>
          <a:solidFill>
            <a:srgbClr val="152538"/>
          </a:solidFill>
          <a:ln w="6350">
            <a:solidFill>
              <a:srgbClr val="53607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75904" y="5010912"/>
            <a:ext cx="228600" cy="2286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85632" y="5120640"/>
            <a:ext cx="228600" cy="228600"/>
          </a:xfrm>
          <a:prstGeom prst="rect">
            <a:avLst/>
          </a:prstGeom>
          <a:solidFill>
            <a:srgbClr val="B2BEC9">
              <a:alpha val="70000"/>
            </a:srgbClr>
          </a:solidFill>
          <a:ln w="12700">
            <a:solidFill>
              <a:srgbClr val="B2BEC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75904" y="537667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Oil &amp; Gas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8375904" y="56967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Exploración y producción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53607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6437376"/>
            <a:ext cx="365760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 · Donde la falla no es una opción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362895" y="651052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mtec.cl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64592" cy="16459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291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MTEC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77295" y="3200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3D485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07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231575" y="566928"/>
            <a:ext cx="502920" cy="0"/>
          </a:xfrm>
          <a:prstGeom prst="line">
            <a:avLst/>
          </a:prstGeom>
          <a:noFill/>
          <a:ln w="19050">
            <a:solidFill>
              <a:srgbClr val="1B6C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365760" cy="36576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0789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B6C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CASOS Y RESULTADOS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Ejecución medible</a:t>
            </a:r>
            <a:endParaRPr lang="en-US" sz="4400" dirty="0"/>
          </a:p>
          <a:p>
            <a:pPr indent="0" marL="0">
              <a:buNone/>
            </a:pPr>
            <a:r>
              <a:rPr lang="en-US" sz="4400" b="1" spc="-1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 terreno.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2697480" cy="2926080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200400"/>
            <a:ext cx="2697480" cy="7315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5204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</a:t>
            </a:r>
            <a:endParaRPr lang="en-US" sz="6400" dirty="0"/>
          </a:p>
        </p:txBody>
      </p:sp>
      <p:sp>
        <p:nvSpPr>
          <p:cNvPr id="12" name="Text 10"/>
          <p:cNvSpPr/>
          <p:nvPr/>
        </p:nvSpPr>
        <p:spPr>
          <a:xfrm>
            <a:off x="777240" y="4754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min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5212080"/>
            <a:ext cx="548640" cy="0"/>
          </a:xfrm>
          <a:prstGeom prst="line">
            <a:avLst/>
          </a:prstGeom>
          <a:noFill/>
          <a:ln w="19050">
            <a:solidFill>
              <a:srgbClr val="B2BE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321808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Tiempo de instalación con tapón Pop-a-Plug.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92424" y="3200400"/>
            <a:ext cx="2697480" cy="2926080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92424" y="3200400"/>
            <a:ext cx="2697480" cy="7315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1024" y="35204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&lt;4</a:t>
            </a:r>
            <a:endParaRPr lang="en-US" sz="6400" dirty="0"/>
          </a:p>
        </p:txBody>
      </p:sp>
      <p:sp>
        <p:nvSpPr>
          <p:cNvPr id="18" name="Text 16"/>
          <p:cNvSpPr/>
          <p:nvPr/>
        </p:nvSpPr>
        <p:spPr>
          <a:xfrm>
            <a:off x="3621024" y="4754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666744" y="5212080"/>
            <a:ext cx="548640" cy="0"/>
          </a:xfrm>
          <a:prstGeom prst="line">
            <a:avLst/>
          </a:prstGeom>
          <a:noFill/>
          <a:ln w="19050">
            <a:solidFill>
              <a:srgbClr val="B2BE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66744" y="5321808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Encapsulado de fuga sin detener el flujo en línea.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36208" y="3200400"/>
            <a:ext cx="2697480" cy="2926080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36208" y="3200400"/>
            <a:ext cx="2697480" cy="7315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64808" y="35204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100</a:t>
            </a:r>
            <a:endParaRPr lang="en-US" sz="6400" dirty="0"/>
          </a:p>
        </p:txBody>
      </p:sp>
      <p:sp>
        <p:nvSpPr>
          <p:cNvPr id="24" name="Text 22"/>
          <p:cNvSpPr/>
          <p:nvPr/>
        </p:nvSpPr>
        <p:spPr>
          <a:xfrm>
            <a:off x="6464808" y="4754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%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510528" y="5212080"/>
            <a:ext cx="548640" cy="0"/>
          </a:xfrm>
          <a:prstGeom prst="line">
            <a:avLst/>
          </a:prstGeom>
          <a:noFill/>
          <a:ln w="19050">
            <a:solidFill>
              <a:srgbClr val="B2BE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0528" y="5321808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Procesos con certificación de estándar.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079992" y="3200400"/>
            <a:ext cx="2697480" cy="2926080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79992" y="3200400"/>
            <a:ext cx="2697480" cy="7315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08592" y="352044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10+</a:t>
            </a:r>
            <a:endParaRPr lang="en-US" sz="6400" dirty="0"/>
          </a:p>
        </p:txBody>
      </p:sp>
      <p:sp>
        <p:nvSpPr>
          <p:cNvPr id="30" name="Text 28"/>
          <p:cNvSpPr/>
          <p:nvPr/>
        </p:nvSpPr>
        <p:spPr>
          <a:xfrm>
            <a:off x="9308592" y="47548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6CA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años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9354312" y="5212080"/>
            <a:ext cx="548640" cy="0"/>
          </a:xfrm>
          <a:prstGeom prst="line">
            <a:avLst/>
          </a:prstGeom>
          <a:noFill/>
          <a:ln w="19050">
            <a:solidFill>
              <a:srgbClr val="B2BEC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54312" y="5321808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experiencia técnica acumulada en terreno.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D6DD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6437376"/>
            <a:ext cx="365760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 · Donde la falla no es una opción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362895" y="651052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mtec.cl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64592" cy="16459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291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MTEC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77295" y="3200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3D485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08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231575" y="566928"/>
            <a:ext cx="502920" cy="0"/>
          </a:xfrm>
          <a:prstGeom prst="line">
            <a:avLst/>
          </a:prstGeom>
          <a:noFill/>
          <a:ln w="19050">
            <a:solidFill>
              <a:srgbClr val="1B6C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365760" cy="36576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078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B6C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POR QUÉ MTEC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Diferenciadores</a:t>
            </a:r>
            <a:endParaRPr lang="en-US" sz="4400" dirty="0"/>
          </a:p>
          <a:p>
            <a:pPr indent="0" marL="0">
              <a:buNone/>
            </a:pPr>
            <a:r>
              <a:rPr lang="en-US" sz="4400" b="1" spc="-1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que se notan en terreno.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5532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5"/>
            </a:solidFill>
            <a:prstDash val="solid"/>
          </a:ln>
          <a:effectLst>
            <a:outerShdw sx="100000" sy="100000" kx="0" ky="0" algn="bl" rotWithShape="0" blurRad="127000" dist="25400" dir="5400000">
              <a:srgbClr val="0F161E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3200400"/>
            <a:ext cx="822960" cy="1463040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7033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554480" y="338328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Rapidez sin sacrificar calidad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54480" y="3840480"/>
            <a:ext cx="4343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emergencias industriales, la velocidad de respuesta es tan crítica como la precisión técnica. MTEC lo ofrece en un solo equipo.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99632" y="3200400"/>
            <a:ext cx="5532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5"/>
            </a:solidFill>
            <a:prstDash val="solid"/>
          </a:ln>
          <a:effectLst>
            <a:outerShdw sx="100000" sy="100000" kx="0" ky="0" algn="bl" rotWithShape="0" blurRad="127000" dist="25400" dir="5400000">
              <a:srgbClr val="0F161E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99632" y="3200400"/>
            <a:ext cx="822960" cy="1463040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9632" y="37033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205472" y="338328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Especialización que se nota en terreno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205472" y="3840480"/>
            <a:ext cx="4343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servicio está respaldado por formación, certificación y experiencia real.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846320"/>
            <a:ext cx="5532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5"/>
            </a:solidFill>
            <a:prstDash val="solid"/>
          </a:ln>
          <a:effectLst>
            <a:outerShdw sx="100000" sy="100000" kx="0" ky="0" algn="bl" rotWithShape="0" blurRad="127000" dist="25400" dir="5400000">
              <a:srgbClr val="0F161E">
                <a:alpha val="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4846320"/>
            <a:ext cx="822960" cy="1463040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349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554480" y="502920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socio técnico, no un proveedor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554480" y="5486400"/>
            <a:ext cx="4343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empresas que trabajan con MTEC integran un equipo técnico externo que entiende su operación.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99632" y="4846320"/>
            <a:ext cx="5532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5"/>
            </a:solidFill>
            <a:prstDash val="solid"/>
          </a:ln>
          <a:effectLst>
            <a:outerShdw sx="100000" sy="100000" kx="0" ky="0" algn="bl" rotWithShape="0" blurRad="127000" dist="25400" dir="5400000">
              <a:srgbClr val="0F161E">
                <a:alpha val="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99632" y="4846320"/>
            <a:ext cx="822960" cy="1463040"/>
          </a:xfrm>
          <a:prstGeom prst="rect">
            <a:avLst/>
          </a:prstGeom>
          <a:solidFill>
            <a:srgbClr val="0D1B2E"/>
          </a:solidFill>
          <a:ln w="12700">
            <a:solidFill>
              <a:srgbClr val="0D1B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99632" y="5349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205472" y="502920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Respaldo del ecosistema ERRES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205472" y="5486400"/>
            <a:ext cx="4343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peso de una empresa con trayectoria, con la agilidad de una organización especializada.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D6DD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6437376"/>
            <a:ext cx="365760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 · Donde la falla no es una opción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362895" y="651052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mtec.cl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64592" cy="16459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291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MTEC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277295" y="3200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spc="200" kern="0" dirty="0">
                <a:solidFill>
                  <a:srgbClr val="3D4856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09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231575" y="566928"/>
            <a:ext cx="502920" cy="0"/>
          </a:xfrm>
          <a:prstGeom prst="line">
            <a:avLst/>
          </a:prstGeom>
          <a:noFill/>
          <a:ln w="19050">
            <a:solidFill>
              <a:srgbClr val="1B6C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365760" cy="36576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0789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B6C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NUESTRO ENFOQUE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trabajamos</a:t>
            </a:r>
            <a:endParaRPr lang="en-US" sz="4400" dirty="0"/>
          </a:p>
          <a:p>
            <a:pPr indent="0" marL="0">
              <a:buNone/>
            </a:pPr>
            <a:r>
              <a:rPr lang="en-US" sz="4400" b="1" spc="-10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 nuestros socios.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914400" y="4114800"/>
            <a:ext cx="10362895" cy="0"/>
          </a:xfrm>
          <a:prstGeom prst="line">
            <a:avLst/>
          </a:prstGeom>
          <a:noFill/>
          <a:ln w="12700">
            <a:solidFill>
              <a:srgbClr val="D6DD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40180" y="3840480"/>
            <a:ext cx="822960" cy="82296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40180" y="397764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8640" y="48920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-5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Diagnóstico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577340" y="5394960"/>
            <a:ext cx="548640" cy="0"/>
          </a:xfrm>
          <a:prstGeom prst="line">
            <a:avLst/>
          </a:prstGeom>
          <a:noFill/>
          <a:ln w="19050">
            <a:solidFill>
              <a:srgbClr val="1B6C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48640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Evaluación técnica en terreno con metodología certificada.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74820" y="3840480"/>
            <a:ext cx="822960" cy="82296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74820" y="397764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383280" y="48920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-5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Plan de acción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411980" y="5394960"/>
            <a:ext cx="548640" cy="0"/>
          </a:xfrm>
          <a:prstGeom prst="line">
            <a:avLst/>
          </a:prstGeom>
          <a:noFill/>
          <a:ln w="19050">
            <a:solidFill>
              <a:srgbClr val="1B6C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548640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Diseño de la intervención adaptada al contexto operacional.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109460" y="3840480"/>
            <a:ext cx="822960" cy="82296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09460" y="397764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17920" y="48920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-5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Ejecución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246620" y="5394960"/>
            <a:ext cx="548640" cy="0"/>
          </a:xfrm>
          <a:prstGeom prst="line">
            <a:avLst/>
          </a:prstGeom>
          <a:noFill/>
          <a:ln w="19050">
            <a:solidFill>
              <a:srgbClr val="1B6C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548640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Despliegue en terreno con respuesta rápida y precisión técnica.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944100" y="3840480"/>
            <a:ext cx="822960" cy="82296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44100" y="397764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052560" y="48920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-50" kern="0" dirty="0">
                <a:solidFill>
                  <a:srgbClr val="0F161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Continuidad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10081260" y="5394960"/>
            <a:ext cx="548640" cy="0"/>
          </a:xfrm>
          <a:prstGeom prst="line">
            <a:avLst/>
          </a:prstGeom>
          <a:noFill/>
          <a:ln w="19050">
            <a:solidFill>
              <a:srgbClr val="1B6C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0" y="548640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60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Acompañamiento post-intervención y relación de largo plazo.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D6DD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6437376"/>
            <a:ext cx="365760" cy="274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 · Donde la falla no es una opción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362895" y="651052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6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mtec.cl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0"/>
            <a:ext cx="3840480" cy="6858000"/>
          </a:xfrm>
          <a:prstGeom prst="rect">
            <a:avLst/>
          </a:prstGeom>
          <a:solidFill>
            <a:srgbClr val="1B6CA8">
              <a:alpha val="20000"/>
            </a:srgbClr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05695" y="0"/>
            <a:ext cx="2286000" cy="6858000"/>
          </a:xfrm>
          <a:prstGeom prst="rect">
            <a:avLst/>
          </a:prstGeom>
          <a:solidFill>
            <a:srgbClr val="1B6CA8">
              <a:alpha val="35000"/>
            </a:srgbClr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68735" y="0"/>
            <a:ext cx="822960" cy="6858000"/>
          </a:xfrm>
          <a:prstGeom prst="rect">
            <a:avLst/>
          </a:prstGeom>
          <a:solidFill>
            <a:srgbClr val="B2BEC9">
              <a:alpha val="30000"/>
            </a:srgbClr>
          </a:solidFill>
          <a:ln w="12700">
            <a:solidFill>
              <a:srgbClr val="B2BEC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457200"/>
            <a:ext cx="164592" cy="164592"/>
          </a:xfrm>
          <a:prstGeom prst="rect">
            <a:avLst/>
          </a:prstGeom>
          <a:solidFill>
            <a:srgbClr val="B2BEC9"/>
          </a:solidFill>
          <a:ln w="12700">
            <a:solidFill>
              <a:srgbClr val="B2BE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2062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MTEC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48640" cy="54864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CONVERSEMOS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operación,</a:t>
            </a:r>
            <a:endParaRPr lang="en-US" sz="4400" dirty="0"/>
          </a:p>
          <a:p>
            <a:pPr indent="0" marL="0"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nuestra responsabilidad.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45720" cy="13716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84632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CONTACTO</a:t>
            </a:r>
            <a:endParaRPr lang="en-US" sz="10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contacto@mtec.cl</a:t>
            </a:r>
            <a:endParaRPr lang="en-US" sz="1000" dirty="0"/>
          </a:p>
          <a:p>
            <a:pPr indent="0" marL="0">
              <a:buNone/>
            </a:pPr>
            <a:r>
              <a:rPr lang="en-US" sz="130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+56 2 0000 0000</a:t>
            </a:r>
            <a:endParaRPr lang="en-US" sz="1000" dirty="0"/>
          </a:p>
          <a:p>
            <a:pPr indent="0" marL="0">
              <a:buNone/>
            </a:pPr>
            <a:r>
              <a:rPr lang="en-US" sz="130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Santiago · Chile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spc="200" kern="0" dirty="0">
                <a:solidFill>
                  <a:srgbClr val="B2BE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Donde la falla no es una opción.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MTEC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MTEC — Template Corporativo</dc:title>
  <dc:subject>PptxGenJS Presentation</dc:subject>
  <dc:creator>MTEC</dc:creator>
  <cp:lastModifiedBy>MTEC</cp:lastModifiedBy>
  <cp:revision>1</cp:revision>
  <dcterms:created xsi:type="dcterms:W3CDTF">2026-04-27T17:14:37Z</dcterms:created>
  <dcterms:modified xsi:type="dcterms:W3CDTF">2026-04-27T17:14:37Z</dcterms:modified>
</cp:coreProperties>
</file>